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Public Sans"/>
      <p:regular r:id="rId33"/>
      <p:bold r:id="rId34"/>
      <p:italic r:id="rId35"/>
      <p:boldItalic r:id="rId36"/>
    </p:embeddedFont>
    <p:embeddedFont>
      <p:font typeface="Chakra Petch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hakraPetch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PublicSans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PublicSans-italic.fntdata"/><Relationship Id="rId12" Type="http://schemas.openxmlformats.org/officeDocument/2006/relationships/slide" Target="slides/slide6.xml"/><Relationship Id="rId34" Type="http://schemas.openxmlformats.org/officeDocument/2006/relationships/font" Target="fonts/PublicSans-bold.fntdata"/><Relationship Id="rId15" Type="http://schemas.openxmlformats.org/officeDocument/2006/relationships/slide" Target="slides/slide9.xml"/><Relationship Id="rId37" Type="http://schemas.openxmlformats.org/officeDocument/2006/relationships/font" Target="fonts/ChakraPetch-regular.fntdata"/><Relationship Id="rId14" Type="http://schemas.openxmlformats.org/officeDocument/2006/relationships/slide" Target="slides/slide8.xml"/><Relationship Id="rId36" Type="http://schemas.openxmlformats.org/officeDocument/2006/relationships/font" Target="fonts/PublicSans-boldItalic.fntdata"/><Relationship Id="rId17" Type="http://schemas.openxmlformats.org/officeDocument/2006/relationships/slide" Target="slides/slide11.xml"/><Relationship Id="rId39" Type="http://schemas.openxmlformats.org/officeDocument/2006/relationships/font" Target="fonts/ChakraPetch-italic.fntdata"/><Relationship Id="rId16" Type="http://schemas.openxmlformats.org/officeDocument/2006/relationships/slide" Target="slides/slide10.xml"/><Relationship Id="rId38" Type="http://schemas.openxmlformats.org/officeDocument/2006/relationships/font" Target="fonts/ChakraPetch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rtswigger.net/burp/pro" TargetMode="External"/><Relationship Id="rId3" Type="http://schemas.openxmlformats.org/officeDocument/2006/relationships/hyperlink" Target="https://portswigger.net/burp/pro" TargetMode="External"/><Relationship Id="rId4" Type="http://schemas.openxmlformats.org/officeDocument/2006/relationships/hyperlink" Target="https://portswigger.net/burp/communitydownload" TargetMode="External"/><Relationship Id="rId5" Type="http://schemas.openxmlformats.org/officeDocument/2006/relationships/hyperlink" Target="https://portswigger.net/burp/communitydownload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ortswigger.net/burp/pro" TargetMode="External"/><Relationship Id="rId3" Type="http://schemas.openxmlformats.org/officeDocument/2006/relationships/hyperlink" Target="https://portswigger.net/burp/pro" TargetMode="External"/><Relationship Id="rId4" Type="http://schemas.openxmlformats.org/officeDocument/2006/relationships/hyperlink" Target="https://portswigger.net/burp/communitydownload" TargetMode="External"/><Relationship Id="rId5" Type="http://schemas.openxmlformats.org/officeDocument/2006/relationships/hyperlink" Target="https://portswigger.net/burp/communitydownload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bada853d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bada853d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52dcaae2d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52dcaae2d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52dcaae2d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52dcaae2d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ffc536fe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ffc536fe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ffc536fe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8ffc536fe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ffc536fe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ffc536fe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8ffc536fe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8ffc536fe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ffc536fe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ffc536fe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8ffc536fe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8ffc536fe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ffc536fe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8ffc536fe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ffc536fe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ffc536fe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8ffc536fe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8ffc536fe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ffc536fe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8ffc536fe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c82e2cac9c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c82e2cac9c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ffc536fe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ffc536fe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905c779b5b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905c779b5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6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With Burp running, open one of the product pages.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In Burp, go to "Proxy" &gt; "HTTP history" and notice that the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request for product pages contains a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parameter. Send the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 /product?productId=1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request to Burp Repeater. Note that your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might be different depending on which product page you loaded.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In Burp Repeater, change the value of the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parameter to a non-integer data type, such as a string. Send the request: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marR="508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 /product?productId="example"</a:t>
            </a:r>
            <a:endParaRPr sz="13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The unexpected data type causes an exception, and a full stack trace is displayed in the response. This reveals that the lab is using Apache Struts 2 2.3.31.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Go back to the lab, click "Submit solution", and enter 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2 2.3.31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to solve the lab.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With Burp running, open one of the product pages.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In Burp, go to "Proxy" &gt; "HTTP history" and notice that the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request for product pages contains a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parameter. Send the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 /product?productId=1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request to Burp Repeater. Note that your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might be different depending on which product page you loaded.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In Burp Repeater, change the value of the </a:t>
            </a: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productId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parameter to a non-integer data type, such as a string. Send the request: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marR="508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rgbClr val="18803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 /product?productId="example"</a:t>
            </a:r>
            <a:endParaRPr sz="1350">
              <a:solidFill>
                <a:srgbClr val="18803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The unexpected data type causes an exception, and a full stack trace is displayed in the response. This reveals that the lab is using Apache Struts 2 2.3.31.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Go back to the lab, click "Submit solution", and enter 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</a:rPr>
              <a:t>2 2.3.31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to solve the lab.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905c779b5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905c779b5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                            Copy and paste the following into the search box: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&lt;script&gt;alert(1)&lt;/script&gt;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Click "Search".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905c779b5b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905c779b5b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                        Open Burp's browser and log in to your account. Submit the "Update email" form, and find the resulting request in your Proxy history.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If you're using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Burp Suite Professional</a:t>
            </a:r>
            <a:r>
              <a:rPr lang="en">
                <a:solidFill>
                  <a:schemeClr val="dk1"/>
                </a:solidFill>
              </a:rPr>
              <a:t>, right-click on the request and select Engagement tools / Generate CSRF PoC. Enable the option to include an auto-submit script and click "Regenerate".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Alternatively, if you're using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Burp Suite Community Edition</a:t>
            </a:r>
            <a:r>
              <a:rPr lang="en">
                <a:solidFill>
                  <a:schemeClr val="dk1"/>
                </a:solidFill>
              </a:rPr>
              <a:t>, use the following HTML template. You can get the request URL by right-clicking and selecting "Copy URL".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&lt;form method="POST" action="https://YOUR-LAB-ID.web-security-academy.net/my-account/change-email"&gt; &lt;input type="hidden" name="email" value="anything%40web-security-academy.net"&gt; &lt;/form&gt; &lt;script&gt; document.forms[0].submit(); &lt;/script&gt;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Go to the exploit server, paste your exploit HTML into the "Body" section, and click "Store".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To verify that the exploit works, try it on yourself by clicking "View exploit" and then check the resulting HTTP request and response.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Change the email address in your exploit so that it doesn't match your own.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Click "Deliver to victim" to solve the lab.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6c744a97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6c744a9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                        Open Burp's browser and log in to your account. Submit the "Update email" form, and find the resulting request in your Proxy history.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If you're using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Burp Suite Professional</a:t>
            </a:r>
            <a:r>
              <a:rPr lang="en">
                <a:solidFill>
                  <a:schemeClr val="dk1"/>
                </a:solidFill>
              </a:rPr>
              <a:t>, right-click on the request and select Engagement tools / Generate CSRF PoC. Enable the option to include an auto-submit script and click "Regenerate".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Alternatively, if you're using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Burp Suite Community Edition</a:t>
            </a:r>
            <a:r>
              <a:rPr lang="en">
                <a:solidFill>
                  <a:schemeClr val="dk1"/>
                </a:solidFill>
              </a:rPr>
              <a:t>, use the following HTML template. You can get the request URL by right-clicking and selecting "Copy URL".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&lt;form method="POST" action="https://YOUR-LAB-ID.web-security-academy.net/my-account/change-email"&gt; &lt;input type="hidden" name="email" value="anything%40web-security-academy.net"&gt; &lt;/form&gt; &lt;script&gt; document.forms[0].submit(); &lt;/script&gt;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Go to the exploit server, paste your exploit HTML into the "Body" section, and click "Store".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To verify that the exploit works, try it on yourself by clicking "View exploit" and then check the resulting HTTP request and response.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Change the email address in your exploit so that it doesn't match your own.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Click "Deliver to victim" to solve the lab.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05c779b5b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905c779b5b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                        Use Burp Suite to intercept and modify the login request.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Modify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en">
                <a:solidFill>
                  <a:schemeClr val="dk1"/>
                </a:solidFill>
              </a:rPr>
              <a:t> parameter, giving it the value: [</a:t>
            </a:r>
            <a:r>
              <a:rPr lang="en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administrator'--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c1f66f288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c1f66f288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718500"/>
            <a:ext cx="8327100" cy="179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Font typeface="Public Sans"/>
              <a:buNone/>
              <a:defRPr b="1" sz="60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175" y="1292475"/>
            <a:ext cx="2430696" cy="3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1150" y="3540425"/>
            <a:ext cx="6924000" cy="62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ublic Sans"/>
              <a:buNone/>
              <a:defRPr b="1" sz="36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65655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ublic Sans"/>
              <a:buNone/>
              <a:defRPr b="1" sz="2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Font typeface="Public Sans"/>
              <a:buNone/>
              <a:defRPr b="1" sz="4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30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81475" y="13702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ublic Sans"/>
              <a:buNone/>
              <a:defRPr b="1" sz="36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81475" y="2940150"/>
            <a:ext cx="4045200" cy="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Public Sans"/>
              <a:buNone/>
              <a:defRPr b="1" sz="120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1718500"/>
            <a:ext cx="8327100" cy="179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Font typeface="Public Sans"/>
              <a:buNone/>
              <a:defRPr b="1" sz="60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175" y="1292475"/>
            <a:ext cx="2430696" cy="3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491150" y="3540425"/>
            <a:ext cx="6924000" cy="62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ublic Sans"/>
              <a:buNone/>
              <a:defRPr b="1" sz="36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65655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ublic Sans"/>
              <a:buNone/>
              <a:defRPr b="1" sz="2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Font typeface="Public Sans"/>
              <a:buNone/>
              <a:defRPr b="1" sz="4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30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4" name="Google Shape;84;p21"/>
          <p:cNvSpPr txBox="1"/>
          <p:nvPr>
            <p:ph type="title"/>
          </p:nvPr>
        </p:nvSpPr>
        <p:spPr>
          <a:xfrm>
            <a:off x="281475" y="13702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ublic Sans"/>
              <a:buNone/>
              <a:defRPr b="1" sz="36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81475" y="2940150"/>
            <a:ext cx="4045200" cy="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Public Sans"/>
              <a:buNone/>
              <a:defRPr b="1" sz="120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1" sz="2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●"/>
              <a:defRPr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●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●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1" sz="2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●"/>
              <a:defRPr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●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●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ortswigger.net/web-security" TargetMode="External"/><Relationship Id="rId4" Type="http://schemas.openxmlformats.org/officeDocument/2006/relationships/hyperlink" Target="https://portswigger.net/web-security/learning-paths/server-side-vulnerabilities-apprentice" TargetMode="External"/><Relationship Id="rId5" Type="http://schemas.openxmlformats.org/officeDocument/2006/relationships/hyperlink" Target="https://portswigger.net/burp/documentation/desktop/getting-started" TargetMode="External"/><Relationship Id="rId6" Type="http://schemas.openxmlformats.org/officeDocument/2006/relationships/hyperlink" Target="https://trustedsec.com/blog/intro-to-web-app-security-testing-burp-suite-tips-tricks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github.com/digininja/DVW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ortswigger.net/web-security/information-disclosure/exploiting/lab-infoleak-in-error-message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ortswigger.net/web-security/cross-site-scripting/reflected/lab-html-context-nothing-encoded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portswigger.net/web-security/csrf/lab-no-defense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ortswigger.net/web-security/sql-injection/lab-login-bypas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0" y="1442175"/>
            <a:ext cx="9144000" cy="119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Introduction to Burp Suite</a:t>
            </a:r>
            <a:endParaRPr sz="4600"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1697700" y="2801250"/>
            <a:ext cx="5748600" cy="571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</a:t>
            </a:r>
            <a:r>
              <a:rPr lang="en" sz="1600"/>
              <a:t>eb Vulnerability Scanning and Basic Penetration Testing</a:t>
            </a:r>
            <a:endParaRPr sz="1600"/>
          </a:p>
        </p:txBody>
      </p:sp>
      <p:sp>
        <p:nvSpPr>
          <p:cNvPr id="103" name="Google Shape;103;p25"/>
          <p:cNvSpPr txBox="1"/>
          <p:nvPr/>
        </p:nvSpPr>
        <p:spPr>
          <a:xfrm>
            <a:off x="7546500" y="4931100"/>
            <a:ext cx="15975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Created By Jack Kelly</a:t>
            </a:r>
            <a:endParaRPr sz="1050"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311700" y="1017725"/>
            <a:ext cx="46617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Announcements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Sign in (with phrase of the day)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Burp Suite Overview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Burp Suite Key Features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Burp Suite Tools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Follow-Along Demos</a:t>
            </a:r>
            <a:endParaRPr>
              <a:solidFill>
                <a:srgbClr val="00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○"/>
            </a:pPr>
            <a:r>
              <a:rPr lang="en">
                <a:solidFill>
                  <a:srgbClr val="00FF00"/>
                </a:solidFill>
              </a:rPr>
              <a:t>Information Disclosure</a:t>
            </a:r>
            <a:endParaRPr>
              <a:solidFill>
                <a:srgbClr val="00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○"/>
            </a:pPr>
            <a:r>
              <a:rPr lang="en">
                <a:solidFill>
                  <a:srgbClr val="00FF00"/>
                </a:solidFill>
              </a:rPr>
              <a:t>Cross-Site Scripting          </a:t>
            </a:r>
            <a:endParaRPr>
              <a:solidFill>
                <a:srgbClr val="00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○"/>
            </a:pPr>
            <a:r>
              <a:rPr lang="en">
                <a:solidFill>
                  <a:srgbClr val="00FF00"/>
                </a:solidFill>
              </a:rPr>
              <a:t>Cross-Site Request Forgery</a:t>
            </a:r>
            <a:endParaRPr>
              <a:solidFill>
                <a:srgbClr val="00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○"/>
            </a:pPr>
            <a:r>
              <a:rPr lang="en">
                <a:solidFill>
                  <a:srgbClr val="00FF00"/>
                </a:solidFill>
              </a:rPr>
              <a:t>SQL Injection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???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Profit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4467050" y="445025"/>
            <a:ext cx="24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 in </a:t>
            </a:r>
            <a:endParaRPr/>
          </a:p>
        </p:txBody>
      </p:sp>
      <p:sp>
        <p:nvSpPr>
          <p:cNvPr id="111" name="Google Shape;111;p26"/>
          <p:cNvSpPr txBox="1"/>
          <p:nvPr/>
        </p:nvSpPr>
        <p:spPr>
          <a:xfrm>
            <a:off x="2026800" y="4727109"/>
            <a:ext cx="509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Phrase of the day is “</a:t>
            </a:r>
            <a:r>
              <a:rPr lang="en" sz="1800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JasonIsMidAtPickleball</a:t>
            </a: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”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12" name="Google Shape;1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400" y="964750"/>
            <a:ext cx="3608400" cy="36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Burp Suite?</a:t>
            </a:r>
            <a:endParaRPr/>
          </a:p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164475" y="1774650"/>
            <a:ext cx="4100400" cy="24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Burp Suite is a leading web vulnerability scanner and penetration testing tool.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Developed by PortSwigger, it is widely used for assessing the security of web applications.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7"/>
          <p:cNvPicPr preferRelativeResize="0"/>
          <p:nvPr/>
        </p:nvPicPr>
        <p:blipFill rotWithShape="1">
          <a:blip r:embed="rId3">
            <a:alphaModFix/>
          </a:blip>
          <a:srcRect b="0" l="6217" r="6217" t="0"/>
          <a:stretch/>
        </p:blipFill>
        <p:spPr>
          <a:xfrm>
            <a:off x="5253824" y="1544402"/>
            <a:ext cx="3578475" cy="2608275"/>
          </a:xfrm>
          <a:prstGeom prst="rect">
            <a:avLst/>
          </a:prstGeom>
          <a:noFill/>
          <a:ln cap="flat" cmpd="sng" w="38100">
            <a:solidFill>
              <a:srgbClr val="FF663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type="title"/>
          </p:nvPr>
        </p:nvSpPr>
        <p:spPr>
          <a:xfrm>
            <a:off x="311700" y="46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Burp Suite</a:t>
            </a:r>
            <a:r>
              <a:rPr lang="en">
                <a:solidFill>
                  <a:schemeClr val="lt1"/>
                </a:solidFill>
              </a:rPr>
              <a:t>: Key Features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238850" y="1100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Proxy: Intercept and modify HTTP requests.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Intruder: Perform automated attacks on web applications.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Repeater: Manually manipulate and resend requests.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Decoder: Decode and encode data.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Scanner</a:t>
            </a:r>
            <a:r>
              <a:rPr lang="en">
                <a:solidFill>
                  <a:srgbClr val="FF0000"/>
                </a:solidFill>
              </a:rPr>
              <a:t>*</a:t>
            </a:r>
            <a:r>
              <a:rPr lang="en">
                <a:solidFill>
                  <a:schemeClr val="lt1"/>
                </a:solidFill>
              </a:rPr>
              <a:t>: Automated vulnerability scanning.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Collaborator</a:t>
            </a:r>
            <a:r>
              <a:rPr lang="en">
                <a:solidFill>
                  <a:srgbClr val="FF0000"/>
                </a:solidFill>
              </a:rPr>
              <a:t>*</a:t>
            </a:r>
            <a:r>
              <a:rPr lang="en"/>
              <a:t>: Identify and test for server-side vulnerabilities.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Supports Extensions to expand on capabilities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8"/>
          <p:cNvSpPr txBox="1"/>
          <p:nvPr/>
        </p:nvSpPr>
        <p:spPr>
          <a:xfrm>
            <a:off x="6447600" y="4786500"/>
            <a:ext cx="2696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*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 Burp Suite Professional Only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Burp Suite: Proxy Tool</a:t>
            </a:r>
            <a:endParaRPr/>
          </a:p>
        </p:txBody>
      </p:sp>
      <p:sp>
        <p:nvSpPr>
          <p:cNvPr id="132" name="Google Shape;132;p29"/>
          <p:cNvSpPr txBox="1"/>
          <p:nvPr>
            <p:ph idx="2" type="body"/>
          </p:nvPr>
        </p:nvSpPr>
        <p:spPr>
          <a:xfrm>
            <a:off x="407625" y="1276400"/>
            <a:ext cx="3278700" cy="3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Acts as an intermediary between the client and server.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Allows you to intercept, inspect, and modify HTTP requests and responses.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Useful for understanding how a web application works and identifying potential security issues.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9375" y="1619550"/>
            <a:ext cx="4895800" cy="2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Burp Suite: Intruder Tool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0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Automates various types of attacks on web applications.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Helps test for vulnerabilities like brute force, time-based attacks, and more.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Useful for discovering and exploiting vulnerabilities.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150" y="1152475"/>
            <a:ext cx="4402524" cy="3575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Burp Suite: Repeater Tool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36775" y="1152475"/>
            <a:ext cx="3293400" cy="3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Manually manipulate and repeat HTTP requests.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Enables you to test how the application responds to various inputs.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Valuable for fine-tuning and verifying vulnerabilities.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47" name="Google Shape;147;p31"/>
          <p:cNvPicPr preferRelativeResize="0"/>
          <p:nvPr/>
        </p:nvPicPr>
        <p:blipFill rotWithShape="1">
          <a:blip r:embed="rId3">
            <a:alphaModFix/>
          </a:blip>
          <a:srcRect b="7730" l="2542" r="2246" t="6277"/>
          <a:stretch/>
        </p:blipFill>
        <p:spPr>
          <a:xfrm>
            <a:off x="4012550" y="1417650"/>
            <a:ext cx="4819750" cy="24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Burp Suite: Decoder Tool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2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Decodes and encodes data in various formats (Base64, URL encoding, etc.)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Useful for analyzing and modifying data on the fly during testing.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675" y="1152463"/>
            <a:ext cx="4402525" cy="2464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Burp Suite: Scanner Tool</a:t>
            </a:r>
            <a:r>
              <a:rPr lang="en">
                <a:solidFill>
                  <a:srgbClr val="FF0000"/>
                </a:solidFill>
              </a:rPr>
              <a:t>*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3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Automated vulnerability scanner for web applications.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Identifies common security issues such as SQL injection, XSS, and more.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Provides detailed reports with vulnerability information.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3">
            <a:alphaModFix/>
          </a:blip>
          <a:srcRect b="2962" l="54636" r="0" t="10666"/>
          <a:stretch/>
        </p:blipFill>
        <p:spPr>
          <a:xfrm>
            <a:off x="5026950" y="927325"/>
            <a:ext cx="3610326" cy="386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460200" y="4794025"/>
            <a:ext cx="2683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*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 Burp Suite Professional Only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Burp Suite: Collaborator Tool</a:t>
            </a:r>
            <a:r>
              <a:rPr lang="en">
                <a:solidFill>
                  <a:srgbClr val="FF0000"/>
                </a:solidFill>
              </a:rPr>
              <a:t>*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4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Detects server-side issues and interactions with external services.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Helps identify issues like SSRF and DNS interactions.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Aids in identifying blind vulnerabilities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Complex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9" name="Google Shape;169;p34"/>
          <p:cNvSpPr txBox="1"/>
          <p:nvPr/>
        </p:nvSpPr>
        <p:spPr>
          <a:xfrm>
            <a:off x="6460200" y="4794025"/>
            <a:ext cx="2683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*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 Burp Suite Professional Only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075" y="1315488"/>
            <a:ext cx="4243225" cy="283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Burp Suite: Extensions</a:t>
            </a:r>
            <a:endParaRPr/>
          </a:p>
        </p:txBody>
      </p:sp>
      <p:sp>
        <p:nvSpPr>
          <p:cNvPr id="176" name="Google Shape;176;p35"/>
          <p:cNvSpPr txBox="1"/>
          <p:nvPr>
            <p:ph idx="2" type="body"/>
          </p:nvPr>
        </p:nvSpPr>
        <p:spPr>
          <a:xfrm>
            <a:off x="436775" y="1392150"/>
            <a:ext cx="39999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Extensions are add-ons or plugins that can be integrated into Burp Suite to extend its features.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They are typically written in Java and allow for customizing various aspects of the tool.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7" name="Google Shape;1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200" y="1025725"/>
            <a:ext cx="4184111" cy="381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Burp Suite: Extensions</a:t>
            </a:r>
            <a:endParaRPr/>
          </a:p>
        </p:txBody>
      </p:sp>
      <p:sp>
        <p:nvSpPr>
          <p:cNvPr id="183" name="Google Shape;183;p36"/>
          <p:cNvSpPr txBox="1"/>
          <p:nvPr>
            <p:ph idx="2" type="body"/>
          </p:nvPr>
        </p:nvSpPr>
        <p:spPr>
          <a:xfrm>
            <a:off x="354600" y="1025725"/>
            <a:ext cx="8349300" cy="20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Burp Suite supports several types of extensions, including: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BApp (Burp Application) Extensions: These extensions add new features and functionalities to Burp Suite.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BEng (Burp Engine) Extensions: These modify the behavior of existing features.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BScanner (Burp Scanner) Extensions: These enhance the capabilities of the Burp Scanner tool.</a:t>
            </a:r>
            <a:endParaRPr sz="1400"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 sz="1400">
                <a:solidFill>
                  <a:schemeClr val="lt1"/>
                </a:solidFill>
              </a:rPr>
              <a:t>BPassive (Burp Passive) Extensions: These monitor and analyze passive scan issues.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6"/>
          <p:cNvSpPr txBox="1"/>
          <p:nvPr/>
        </p:nvSpPr>
        <p:spPr>
          <a:xfrm>
            <a:off x="354600" y="2979750"/>
            <a:ext cx="8349300" cy="18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Some popular extensions include: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Autorize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: Helps automate authorization testing.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Backslash Powered Scanner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: Enhances scanning for server-side request forgery (SSRF) vulnerabilities.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J2EEScan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: Specialized for Java-based applications.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HUNT Suite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: Adds unique, innovative scanning capabilities.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Collaborator Everywhere</a:t>
            </a:r>
            <a:r>
              <a:rPr lang="en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: Expands the functionality of Burp Collaborator.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Burp Suite: Use Cases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7"/>
          <p:cNvSpPr txBox="1"/>
          <p:nvPr>
            <p:ph idx="2" type="body"/>
          </p:nvPr>
        </p:nvSpPr>
        <p:spPr>
          <a:xfrm>
            <a:off x="436775" y="1152475"/>
            <a:ext cx="764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Web application security testing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Vulnerability assessment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Penetration testing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Bug bounty programs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Learning and understanding web security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Burp Suite: Benefits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8"/>
          <p:cNvSpPr txBox="1"/>
          <p:nvPr>
            <p:ph idx="2" type="body"/>
          </p:nvPr>
        </p:nvSpPr>
        <p:spPr>
          <a:xfrm>
            <a:off x="436775" y="1152475"/>
            <a:ext cx="764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Comprehensive and user-friendly interface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Regular updates and community support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Suitable for both beginners and advanced security professionals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Versatile and adaptable for a wide range of testing scenarios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311700" y="23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02" name="Google Shape;202;p39"/>
          <p:cNvSpPr txBox="1"/>
          <p:nvPr>
            <p:ph idx="1" type="body"/>
          </p:nvPr>
        </p:nvSpPr>
        <p:spPr>
          <a:xfrm>
            <a:off x="311700" y="80692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https://portswigger.net/web-security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4"/>
              </a:rPr>
              <a:t>https://portswigger.net/web-security/learning-paths/server-side-vulnerabilities-apprentice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5"/>
              </a:rPr>
              <a:t>https://portswigger.net/burp/documentation/desktop/getting-started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6"/>
              </a:rPr>
              <a:t>https://trustedsec.com/blog/intro-to-web-app-security-testing-burp-suite-tips-tricks</a:t>
            </a:r>
            <a:endParaRPr sz="1400"/>
          </a:p>
        </p:txBody>
      </p:sp>
      <p:sp>
        <p:nvSpPr>
          <p:cNvPr id="203" name="Google Shape;203;p39"/>
          <p:cNvSpPr txBox="1"/>
          <p:nvPr/>
        </p:nvSpPr>
        <p:spPr>
          <a:xfrm>
            <a:off x="311700" y="2294900"/>
            <a:ext cx="4190700" cy="271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Damn Vulnerable Web Application (DVWA)</a:t>
            </a:r>
            <a:endParaRPr b="1" sz="16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Damn Vulnerable Web Application (DVWA) is a PHP/MySQL web application that is damn vulnerable. Its main goal is to be an aid for security professionals to test their skills and tools in a legal environment, help web developers better understand the processes of securing web applications and to aid both students &amp; teachers to learn about web application security in a controlled classroom environment.</a:t>
            </a:r>
            <a:endParaRPr sz="13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204" name="Google Shape;204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4550" y="2536112"/>
            <a:ext cx="3697749" cy="18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9"/>
          <p:cNvSpPr txBox="1"/>
          <p:nvPr/>
        </p:nvSpPr>
        <p:spPr>
          <a:xfrm>
            <a:off x="5677675" y="4291100"/>
            <a:ext cx="2611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github.com/digininja/DVWA</a:t>
            </a:r>
            <a:endParaRPr b="1" u="sng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type="title"/>
          </p:nvPr>
        </p:nvSpPr>
        <p:spPr>
          <a:xfrm>
            <a:off x="281475" y="13702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</a:t>
            </a:r>
            <a:endParaRPr/>
          </a:p>
        </p:txBody>
      </p:sp>
      <p:sp>
        <p:nvSpPr>
          <p:cNvPr id="211" name="Google Shape;211;p40"/>
          <p:cNvSpPr txBox="1"/>
          <p:nvPr>
            <p:ph idx="1" type="subTitle"/>
          </p:nvPr>
        </p:nvSpPr>
        <p:spPr>
          <a:xfrm>
            <a:off x="281475" y="2940150"/>
            <a:ext cx="4045200" cy="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Next: Burp Suite Demos</a:t>
            </a:r>
            <a:endParaRPr/>
          </a:p>
        </p:txBody>
      </p:sp>
      <p:sp>
        <p:nvSpPr>
          <p:cNvPr id="212" name="Google Shape;212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Questions?</a:t>
            </a:r>
            <a:endParaRPr b="1"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Burp Demo: Information Disclosure</a:t>
            </a:r>
            <a:endParaRPr/>
          </a:p>
        </p:txBody>
      </p:sp>
      <p:sp>
        <p:nvSpPr>
          <p:cNvPr id="218" name="Google Shape;218;p41"/>
          <p:cNvSpPr txBox="1"/>
          <p:nvPr>
            <p:ph idx="2" type="body"/>
          </p:nvPr>
        </p:nvSpPr>
        <p:spPr>
          <a:xfrm>
            <a:off x="436775" y="1982025"/>
            <a:ext cx="3999900" cy="21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Information disclosures occur when private information about your assets, applications, or users is divulged or accessible to unauthorized entities.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This information may be used to further target your system.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1"/>
          <p:cNvSpPr txBox="1"/>
          <p:nvPr>
            <p:ph idx="1" type="body"/>
          </p:nvPr>
        </p:nvSpPr>
        <p:spPr>
          <a:xfrm>
            <a:off x="6026100" y="1152475"/>
            <a:ext cx="2806200" cy="157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PortSwigger Lab</a:t>
            </a:r>
            <a:endParaRPr b="1" sz="1800" u="sng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Information Disclosure in Error Messages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436775" y="1152475"/>
            <a:ext cx="569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What is an information disclosure vulnerability?</a:t>
            </a:r>
            <a:endParaRPr sz="18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Burp Demo: Cross-Site Scripting (XSS)</a:t>
            </a:r>
            <a:endParaRPr/>
          </a:p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436775" y="1680225"/>
            <a:ext cx="4305900" cy="29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XSS occurs when an application includes untrusted data from a user (usually via a web page) in the web page content that is then sent to a user's browser. 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This untrusted data is treated as code and executed by the user's browser. 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XSS vulnerabilities allow attackers to inject malicious scripts into web pages viewed by other users. 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6026100" y="1152475"/>
            <a:ext cx="2806200" cy="1565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PortSwigger Lab</a:t>
            </a:r>
            <a:endParaRPr b="1" sz="1800" u="sng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Reflected XSS</a:t>
            </a:r>
            <a:r>
              <a:rPr lang="en" u="sng">
                <a:solidFill>
                  <a:schemeClr val="accent5"/>
                </a:solidFill>
              </a:rPr>
              <a:t> in Search Function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42"/>
          <p:cNvSpPr txBox="1"/>
          <p:nvPr/>
        </p:nvSpPr>
        <p:spPr>
          <a:xfrm>
            <a:off x="436775" y="1152475"/>
            <a:ext cx="569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What is an XSS vulnerability?</a:t>
            </a:r>
            <a:endParaRPr sz="18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Burp Demo: Cross-Site Request Forgery (CSRF)</a:t>
            </a:r>
            <a:endParaRPr/>
          </a:p>
        </p:txBody>
      </p:sp>
      <p:sp>
        <p:nvSpPr>
          <p:cNvPr id="234" name="Google Shape;234;p43"/>
          <p:cNvSpPr txBox="1"/>
          <p:nvPr>
            <p:ph idx="2" type="body"/>
          </p:nvPr>
        </p:nvSpPr>
        <p:spPr>
          <a:xfrm>
            <a:off x="436775" y="1680225"/>
            <a:ext cx="4305900" cy="14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CSRF</a:t>
            </a: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occurs when </a:t>
            </a:r>
            <a:r>
              <a:rPr lang="en" sz="15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an attacker tricks a user into unknowingly making unwanted and unauthorized actions on a different website while authenticated on a target website. 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6026100" y="1152475"/>
            <a:ext cx="2806200" cy="1565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PortSwigger Lab</a:t>
            </a:r>
            <a:endParaRPr b="1" sz="1800" u="sng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CSRF</a:t>
            </a:r>
            <a:r>
              <a:rPr lang="en" sz="15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(No Defense)</a:t>
            </a:r>
            <a:endParaRPr sz="1500" u="sng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436775" y="1152475"/>
            <a:ext cx="569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What is a CSRF vulnerability?</a:t>
            </a:r>
            <a:endParaRPr sz="18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7" name="Google Shape;237;p43"/>
          <p:cNvSpPr txBox="1"/>
          <p:nvPr/>
        </p:nvSpPr>
        <p:spPr>
          <a:xfrm>
            <a:off x="436775" y="3420050"/>
            <a:ext cx="2069100" cy="1257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Authentication:</a:t>
            </a:r>
            <a:r>
              <a:rPr lang="en" sz="1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 The victim user is logged into a trusted website (e.g., their online banking or email account) and has a session with the website.</a:t>
            </a:r>
            <a:endParaRPr sz="12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8" name="Google Shape;238;p43"/>
          <p:cNvSpPr txBox="1"/>
          <p:nvPr/>
        </p:nvSpPr>
        <p:spPr>
          <a:xfrm>
            <a:off x="3204288" y="3420050"/>
            <a:ext cx="2386500" cy="1257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Malicious Request: </a:t>
            </a:r>
            <a:r>
              <a:rPr lang="en" sz="1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The attacker creates a malicious web page or email with a hidden form or script that sends a request to the target website on behalf of the victim.</a:t>
            </a:r>
            <a:endParaRPr sz="12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9" name="Google Shape;239;p43"/>
          <p:cNvSpPr txBox="1"/>
          <p:nvPr/>
        </p:nvSpPr>
        <p:spPr>
          <a:xfrm>
            <a:off x="6289225" y="3420050"/>
            <a:ext cx="2543100" cy="1257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Unintentional Action:</a:t>
            </a:r>
            <a:r>
              <a:rPr lang="en" sz="1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 When the victim visits the attacker's page, their browser automatically sends the malicious request to the target website, without the user's knowledge.</a:t>
            </a:r>
            <a:endParaRPr sz="12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240" name="Google Shape;240;p43"/>
          <p:cNvCxnSpPr>
            <a:stCxn id="237" idx="3"/>
            <a:endCxn id="238" idx="1"/>
          </p:cNvCxnSpPr>
          <p:nvPr/>
        </p:nvCxnSpPr>
        <p:spPr>
          <a:xfrm>
            <a:off x="2505875" y="4048700"/>
            <a:ext cx="6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43"/>
          <p:cNvCxnSpPr>
            <a:stCxn id="238" idx="3"/>
            <a:endCxn id="239" idx="1"/>
          </p:cNvCxnSpPr>
          <p:nvPr/>
        </p:nvCxnSpPr>
        <p:spPr>
          <a:xfrm>
            <a:off x="5590788" y="4048700"/>
            <a:ext cx="6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Burp Demo: Cross-Site Request Forgery (CSRF)</a:t>
            </a:r>
            <a:endParaRPr/>
          </a:p>
        </p:txBody>
      </p:sp>
      <p:pic>
        <p:nvPicPr>
          <p:cNvPr id="247" name="Google Shape;24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014" y="1260750"/>
            <a:ext cx="2765975" cy="27659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8" name="Google Shape;248;p44"/>
          <p:cNvSpPr txBox="1"/>
          <p:nvPr/>
        </p:nvSpPr>
        <p:spPr>
          <a:xfrm>
            <a:off x="2393100" y="4205900"/>
            <a:ext cx="435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CSRF Demo on Youtube</a:t>
            </a:r>
            <a:endParaRPr sz="22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Burp Demo: SQL Injection</a:t>
            </a:r>
            <a:endParaRPr/>
          </a:p>
        </p:txBody>
      </p:sp>
      <p:sp>
        <p:nvSpPr>
          <p:cNvPr id="254" name="Google Shape;254;p45"/>
          <p:cNvSpPr txBox="1"/>
          <p:nvPr>
            <p:ph idx="2" type="body"/>
          </p:nvPr>
        </p:nvSpPr>
        <p:spPr>
          <a:xfrm>
            <a:off x="436775" y="1680225"/>
            <a:ext cx="4305900" cy="30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Occurs</a:t>
            </a:r>
            <a:r>
              <a:rPr lang="en" sz="13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 when an attacker is able to manipulate or inject malicious SQL (Structured Query Language) code into an application's input fields. </a:t>
            </a:r>
            <a:endParaRPr sz="13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This code is then executed by the application's database, allowing the attacker to view, modify, or delete data from the database. </a:t>
            </a:r>
            <a:endParaRPr sz="13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2EE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SQL Injection vulnerabilities are particularly dangerous because they can lead to unauthorized access to sensitive information and potentially even the complete compromise of a web application.</a:t>
            </a:r>
            <a:endParaRPr sz="13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45"/>
          <p:cNvSpPr txBox="1"/>
          <p:nvPr>
            <p:ph idx="1" type="body"/>
          </p:nvPr>
        </p:nvSpPr>
        <p:spPr>
          <a:xfrm>
            <a:off x="6026100" y="1152475"/>
            <a:ext cx="2806200" cy="1565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PortSwigger Lab</a:t>
            </a:r>
            <a:endParaRPr b="1" sz="1800" u="sng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Public Sans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SQL Injection (Login Bypass)</a:t>
            </a:r>
            <a:endParaRPr sz="1500">
              <a:solidFill>
                <a:srgbClr val="E2E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5"/>
          <p:cNvSpPr txBox="1"/>
          <p:nvPr/>
        </p:nvSpPr>
        <p:spPr>
          <a:xfrm>
            <a:off x="436775" y="1152475"/>
            <a:ext cx="569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2EEFF"/>
                </a:solidFill>
                <a:latin typeface="Roboto"/>
                <a:ea typeface="Roboto"/>
                <a:cs typeface="Roboto"/>
                <a:sym typeface="Roboto"/>
              </a:rPr>
              <a:t>What is a SQL Injection vulnerability?</a:t>
            </a:r>
            <a:endParaRPr sz="18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 txBox="1"/>
          <p:nvPr>
            <p:ph type="title"/>
          </p:nvPr>
        </p:nvSpPr>
        <p:spPr>
          <a:xfrm>
            <a:off x="318725" y="1178450"/>
            <a:ext cx="4045200" cy="107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$ </a:t>
            </a:r>
            <a:r>
              <a:rPr lang="en" sz="3100"/>
              <a:t>AWS Cloud Security Consultant</a:t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Roles &amp; </a:t>
            </a:r>
            <a:r>
              <a:rPr lang="en" sz="1600"/>
              <a:t>Recruitment</a:t>
            </a:r>
            <a:r>
              <a:rPr lang="en" sz="1600"/>
              <a:t> </a:t>
            </a:r>
            <a:endParaRPr sz="1600"/>
          </a:p>
        </p:txBody>
      </p:sp>
      <p:sp>
        <p:nvSpPr>
          <p:cNvPr id="262" name="Google Shape;262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lt1"/>
                </a:solidFill>
              </a:rPr>
              <a:t>Questions?</a:t>
            </a:r>
            <a:endParaRPr/>
          </a:p>
        </p:txBody>
      </p:sp>
      <p:sp>
        <p:nvSpPr>
          <p:cNvPr id="263" name="Google Shape;263;p46"/>
          <p:cNvSpPr txBox="1"/>
          <p:nvPr>
            <p:ph idx="1" type="subTitle"/>
          </p:nvPr>
        </p:nvSpPr>
        <p:spPr>
          <a:xfrm>
            <a:off x="217350" y="653150"/>
            <a:ext cx="40452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Wednesday:</a:t>
            </a:r>
            <a:endParaRPr/>
          </a:p>
        </p:txBody>
      </p:sp>
      <p:sp>
        <p:nvSpPr>
          <p:cNvPr id="264" name="Google Shape;264;p46"/>
          <p:cNvSpPr txBox="1"/>
          <p:nvPr>
            <p:ph type="title"/>
          </p:nvPr>
        </p:nvSpPr>
        <p:spPr>
          <a:xfrm>
            <a:off x="369411" y="3551952"/>
            <a:ext cx="4045200" cy="107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$ c2 Development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(Maldev)</a:t>
            </a:r>
            <a:endParaRPr sz="1400"/>
          </a:p>
        </p:txBody>
      </p:sp>
      <p:sp>
        <p:nvSpPr>
          <p:cNvPr id="265" name="Google Shape;265;p46"/>
          <p:cNvSpPr txBox="1"/>
          <p:nvPr>
            <p:ph idx="1" type="subTitle"/>
          </p:nvPr>
        </p:nvSpPr>
        <p:spPr>
          <a:xfrm>
            <a:off x="268036" y="3026652"/>
            <a:ext cx="40452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Friday</a:t>
            </a:r>
            <a:r>
              <a:rPr lang="en"/>
              <a:t>:</a:t>
            </a:r>
            <a:endParaRPr/>
          </a:p>
        </p:txBody>
      </p:sp>
      <p:sp>
        <p:nvSpPr>
          <p:cNvPr id="266" name="Google Shape;266;p46"/>
          <p:cNvSpPr txBox="1"/>
          <p:nvPr>
            <p:ph idx="1" type="subTitle"/>
          </p:nvPr>
        </p:nvSpPr>
        <p:spPr>
          <a:xfrm>
            <a:off x="318725" y="2272750"/>
            <a:ext cx="40452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Event Starts @ 5pm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